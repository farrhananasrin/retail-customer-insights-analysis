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4778" r:id="rId2"/>
    <p:sldId id="4780" r:id="rId3"/>
    <p:sldId id="4779" r:id="rId4"/>
    <p:sldId id="4781" r:id="rId5"/>
    <p:sldId id="4782" r:id="rId6"/>
    <p:sldId id="4783" r:id="rId7"/>
    <p:sldId id="4784" r:id="rId8"/>
    <p:sldId id="4785" r:id="rId9"/>
    <p:sldId id="4786" r:id="rId10"/>
    <p:sldId id="4788" r:id="rId11"/>
    <p:sldId id="4789" r:id="rId12"/>
    <p:sldId id="4787" r:id="rId13"/>
  </p:sldIdLst>
  <p:sldSz cx="12192000" cy="6858000"/>
  <p:notesSz cx="6858000" cy="9144000"/>
  <p:embeddedFontLst>
    <p:embeddedFont>
      <p:font typeface="Book Antiqua" panose="02040602050305030304" pitchFamily="18" charset="0"/>
      <p:regular r:id="rId15"/>
      <p:bold r:id="rId16"/>
      <p:italic r:id="rId17"/>
      <p:boldItalic r:id="rId18"/>
    </p:embeddedFont>
    <p:embeddedFont>
      <p:font typeface="Roboto" panose="02000000000000000000" pitchFamily="2" charset="0"/>
      <p:regular r:id="rId19"/>
      <p:bold r:id="rId20"/>
      <p:italic r:id="rId21"/>
      <p:boldItalic r:id="rId22"/>
    </p:embeddedFont>
    <p:embeddedFont>
      <p:font typeface="Roboto Light" panose="02000000000000000000" pitchFamily="2" charset="0"/>
      <p:regular r:id="rId23"/>
      <p:italic r:id="rId24"/>
    </p:embeddedFont>
    <p:embeddedFont>
      <p:font typeface="Roboto Medium" panose="02000000000000000000" pitchFamily="2" charset="0"/>
      <p:regular r:id="rId25"/>
      <p: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4780"/>
            <p14:sldId id="4779"/>
            <p14:sldId id="4781"/>
            <p14:sldId id="4782"/>
            <p14:sldId id="4783"/>
            <p14:sldId id="4784"/>
            <p14:sldId id="4785"/>
            <p14:sldId id="4786"/>
            <p14:sldId id="4788"/>
            <p14:sldId id="4789"/>
          </p14:sldIdLst>
        </p14:section>
        <p14:section name="Disclaimer" id="{1BDF34DF-3DC5-4B3F-AADB-BBEF917A852B}">
          <p14:sldIdLst>
            <p14:sldId id="47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54" d="100"/>
          <a:sy n="54" d="100"/>
        </p:scale>
        <p:origin x="1392" y="44"/>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8/06/2026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p15:clr>
            <a:srgbClr val="5ACBF0"/>
          </p15:clr>
        </p15:guide>
        <p15:guide id="33" orient="horz" pos="3793">
          <p15:clr>
            <a:srgbClr val="5ACBF0"/>
          </p15:clr>
        </p15:guide>
        <p15:guide id="34" orient="horz" pos="315">
          <p15:clr>
            <a:srgbClr val="5ACBF0"/>
          </p15:clr>
        </p15:guide>
        <p15:guide id="35" pos="760">
          <p15:clr>
            <a:srgbClr val="5ACBF0"/>
          </p15:clr>
        </p15:guide>
        <p15:guide id="36" orient="horz" pos="822">
          <p15:clr>
            <a:srgbClr val="FBAE40"/>
          </p15:clr>
        </p15:guide>
        <p15:guide id="37" pos="4067">
          <p15:clr>
            <a:srgbClr val="FBAE4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a:xfrm>
            <a:off x="1212851" y="1537494"/>
            <a:ext cx="5196313" cy="2387600"/>
          </a:xfrm>
        </p:spPr>
        <p:txBody>
          <a:bodyPr/>
          <a:lstStyle/>
          <a:p>
            <a:r>
              <a:rPr lang="en-US" b="1" dirty="0">
                <a:effectLst>
                  <a:outerShdw blurRad="38100" dist="38100" dir="2700000" algn="tl">
                    <a:srgbClr val="000000">
                      <a:alpha val="43137"/>
                    </a:srgbClr>
                  </a:outerShdw>
                </a:effectLst>
                <a:latin typeface="Book Antiqua" panose="02040602050305030304" pitchFamily="18" charset="0"/>
              </a:rPr>
              <a:t>STORE TRIAL ANALYSIS &amp; CUSTOMER SEGMENTATION</a:t>
            </a:r>
            <a:endParaRPr lang="en-AU" b="1" dirty="0">
              <a:effectLst>
                <a:outerShdw blurRad="38100" dist="38100" dir="2700000" algn="tl">
                  <a:srgbClr val="000000">
                    <a:alpha val="43137"/>
                  </a:srgbClr>
                </a:outerShdw>
              </a:effectLst>
              <a:latin typeface="Book Antiqua" panose="02040602050305030304" pitchFamily="18" charset="0"/>
            </a:endParaRP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US" dirty="0">
                <a:effectLst>
                  <a:outerShdw blurRad="38100" dist="38100" dir="2700000" algn="tl">
                    <a:srgbClr val="000000">
                      <a:alpha val="43137"/>
                    </a:srgbClr>
                  </a:outerShdw>
                </a:effectLst>
                <a:latin typeface="Book Antiqua" panose="02040602050305030304" pitchFamily="18" charset="0"/>
              </a:rPr>
              <a:t>Prepared for Julia | </a:t>
            </a:r>
            <a:r>
              <a:rPr lang="en-US" dirty="0" err="1">
                <a:effectLst>
                  <a:outerShdw blurRad="38100" dist="38100" dir="2700000" algn="tl">
                    <a:srgbClr val="000000">
                      <a:alpha val="43137"/>
                    </a:srgbClr>
                  </a:outerShdw>
                </a:effectLst>
                <a:latin typeface="Book Antiqua" panose="02040602050305030304" pitchFamily="18" charset="0"/>
              </a:rPr>
              <a:t>Quantium</a:t>
            </a:r>
            <a:r>
              <a:rPr lang="en-US" dirty="0">
                <a:effectLst>
                  <a:outerShdw blurRad="38100" dist="38100" dir="2700000" algn="tl">
                    <a:srgbClr val="000000">
                      <a:alpha val="43137"/>
                    </a:srgbClr>
                  </a:outerShdw>
                </a:effectLst>
                <a:latin typeface="Book Antiqua" panose="02040602050305030304" pitchFamily="18" charset="0"/>
              </a:rPr>
              <a:t> Virtual Internship</a:t>
            </a:r>
            <a:endParaRPr lang="en-AU" dirty="0">
              <a:effectLst>
                <a:outerShdw blurRad="38100" dist="38100" dir="2700000" algn="tl">
                  <a:srgbClr val="000000">
                    <a:alpha val="43137"/>
                  </a:srgbClr>
                </a:outerShdw>
              </a:effectLst>
              <a:latin typeface="Book Antiqua" panose="02040602050305030304" pitchFamily="18" charset="0"/>
            </a:endParaRP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effectLst>
                  <a:outerShdw blurRad="38100" dist="38100" dir="2700000" algn="tl">
                    <a:srgbClr val="000000">
                      <a:alpha val="43137"/>
                    </a:srgbClr>
                  </a:outerShdw>
                </a:effectLst>
                <a:latin typeface="Book Antiqua" panose="02040602050305030304" pitchFamily="18" charset="0"/>
              </a:rPr>
              <a:t>June 2026</a:t>
            </a: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12294760" y="562153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pic>
        <p:nvPicPr>
          <p:cNvPr id="6" name="Picture 5">
            <a:extLst>
              <a:ext uri="{FF2B5EF4-FFF2-40B4-BE49-F238E27FC236}">
                <a16:creationId xmlns:a16="http://schemas.microsoft.com/office/drawing/2014/main" id="{F15A19FB-E978-B671-25A0-B4A552F47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687" y="0"/>
            <a:ext cx="5196313" cy="6852492"/>
          </a:xfrm>
          <a:prstGeom prst="rect">
            <a:avLst/>
          </a:prstGeom>
        </p:spPr>
      </p:pic>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b="1" dirty="0">
                <a:effectLst>
                  <a:outerShdw blurRad="38100" dist="38100" dir="2700000" algn="tl">
                    <a:srgbClr val="000000">
                      <a:alpha val="43137"/>
                    </a:srgbClr>
                  </a:outerShdw>
                </a:effectLst>
                <a:latin typeface="Book Antiqua" panose="02040602050305030304" pitchFamily="18" charset="0"/>
              </a:rPr>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b="1" dirty="0">
                <a:solidFill>
                  <a:srgbClr val="000000"/>
                </a:solidFill>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b="1" dirty="0">
                <a:solidFill>
                  <a:srgbClr val="000000"/>
                </a:solidFill>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02</a:t>
            </a: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b="1" dirty="0">
                <a:effectLst>
                  <a:outerShdw blurRad="38100" dist="38100" dir="2700000" algn="tl">
                    <a:srgbClr val="000000">
                      <a:alpha val="43137"/>
                    </a:srgbClr>
                  </a:outerShdw>
                </a:effectLst>
                <a:latin typeface="Book Antiqua" panose="02040602050305030304" pitchFamily="18"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b="1" dirty="0">
                <a:effectLst>
                  <a:outerShdw blurRad="38100" dist="38100" dir="2700000" algn="tl">
                    <a:srgbClr val="000000">
                      <a:alpha val="43137"/>
                    </a:srgbClr>
                  </a:outerShdw>
                </a:effectLst>
                <a:latin typeface="Book Antiqua" panose="02040602050305030304" pitchFamily="18" charset="0"/>
                <a:ea typeface="Roboto" panose="02000000000000000000" pitchFamily="2" charset="0"/>
                <a:cs typeface="Roboto" panose="02000000000000000000" pitchFamily="2" charset="0"/>
              </a:rPr>
              <a:t>Task 2</a:t>
            </a: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Mainstream Young Singles/Couples were the highest revenue-generating customer segment.</a:t>
            </a:r>
          </a:p>
          <a:p>
            <a:endPar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Premium customers spent more per transaction than other customer groups.</a:t>
            </a:r>
          </a:p>
          <a:p>
            <a:endPar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Customer demographics significantly influenced purchasing </a:t>
            </a:r>
            <a:r>
              <a:rPr lang="en-US" sz="12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behaviour</a:t>
            </a:r>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and sales performance</a:t>
            </a:r>
            <a:r>
              <a:rPr lang="en-US" sz="1200" dirty="0">
                <a:latin typeface="Roboto Light" panose="02000000000000000000" pitchFamily="2" charset="0"/>
                <a:ea typeface="Roboto Light" panose="02000000000000000000" pitchFamily="2" charset="0"/>
              </a:rPr>
              <a:t>.</a:t>
            </a:r>
            <a:endParaRPr lang="en-AU" sz="12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Trial stores 77, 86 and 88 were compared against matched control stores.</a:t>
            </a:r>
          </a:p>
          <a:p>
            <a:endPar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Store performance was evaluated using sales trends, customer counts and transactions per customer.</a:t>
            </a:r>
          </a:p>
          <a:p>
            <a:endPar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Statistical testing identified differences in performance between trial and control stores.</a:t>
            </a:r>
            <a:endParaRPr lang="en-AU" sz="12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effectLst>
                  <a:outerShdw blurRad="38100" dist="38100" dir="2700000" algn="tl">
                    <a:srgbClr val="000000">
                      <a:alpha val="43137"/>
                    </a:srgbClr>
                  </a:outerShdw>
                </a:effectLst>
                <a:latin typeface="Book Antiqua" panose="02040602050305030304" pitchFamily="18" charset="0"/>
              </a:rPr>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endParaRPr lang="en-US" dirty="0"/>
          </a:p>
          <a:p>
            <a:endParaRPr lang="en-US" dirty="0"/>
          </a:p>
          <a:p>
            <a:r>
              <a:rPr lang="en-US" b="1" dirty="0">
                <a:effectLst>
                  <a:outerShdw blurRad="38100" dist="38100" dir="2700000" algn="tl">
                    <a:srgbClr val="000000">
                      <a:alpha val="43137"/>
                    </a:srgbClr>
                  </a:outerShdw>
                </a:effectLst>
                <a:latin typeface="Book Antiqua" panose="02040602050305030304" pitchFamily="18" charset="0"/>
              </a:rPr>
              <a:t>CUSTOMER SEGMENTATION</a:t>
            </a:r>
            <a:endParaRPr lang="en-AU" b="1" dirty="0">
              <a:effectLst>
                <a:outerShdw blurRad="38100" dist="38100" dir="2700000" algn="tl">
                  <a:srgbClr val="000000">
                    <a:alpha val="43137"/>
                  </a:srgbClr>
                </a:outerShdw>
              </a:effectLst>
              <a:latin typeface="Book Antiqua" panose="02040602050305030304" pitchFamily="18" charset="0"/>
            </a:endParaRP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255048" y="395388"/>
            <a:ext cx="10077637" cy="824400"/>
          </a:xfrm>
        </p:spPr>
        <p:txBody>
          <a:bodyPr/>
          <a:lstStyle/>
          <a:p>
            <a:r>
              <a:rPr lang="en-AU" b="1" dirty="0">
                <a:effectLst>
                  <a:outerShdw blurRad="38100" dist="38100" dir="2700000" algn="tl">
                    <a:srgbClr val="000000">
                      <a:alpha val="43137"/>
                    </a:srgbClr>
                  </a:outerShdw>
                </a:effectLst>
                <a:latin typeface="Book Antiqua" panose="02040602050305030304" pitchFamily="18" charset="0"/>
              </a:rPr>
              <a:t>CATEGORY OVERVIEW</a:t>
            </a:r>
          </a:p>
        </p:txBody>
      </p:sp>
      <p:sp>
        <p:nvSpPr>
          <p:cNvPr id="7" name="TextBox 6">
            <a:extLst>
              <a:ext uri="{FF2B5EF4-FFF2-40B4-BE49-F238E27FC236}">
                <a16:creationId xmlns:a16="http://schemas.microsoft.com/office/drawing/2014/main" id="{AF48C205-27DB-A85B-0E8D-A1CC2F1EE6F2}"/>
              </a:ext>
            </a:extLst>
          </p:cNvPr>
          <p:cNvSpPr txBox="1"/>
          <p:nvPr/>
        </p:nvSpPr>
        <p:spPr>
          <a:xfrm>
            <a:off x="1255048" y="4263528"/>
            <a:ext cx="7503362" cy="1839817"/>
          </a:xfrm>
          <a:prstGeom prst="rect">
            <a:avLst/>
          </a:prstGeom>
          <a:noFill/>
        </p:spPr>
        <p:txBody>
          <a:bodyPr wrap="none" lIns="0" tIns="0" rIns="0" bIns="0" rtlCol="0" anchor="t">
            <a:noAutofit/>
          </a:bodyPr>
          <a:lstStyle/>
          <a:p>
            <a:r>
              <a:rPr lang="en-US" b="1" u="sng"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KEY INSIGHTS</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Mainstream Young Singles/Couples generated the highest sales revenue.</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Budget and Mainstream customers contributed the largest share of transactions.</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Premium customer segments showed higher average spend per customer.</a:t>
            </a:r>
            <a:endParaRPr lang="en-IN" sz="16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pic>
        <p:nvPicPr>
          <p:cNvPr id="14" name="Picture 13">
            <a:extLst>
              <a:ext uri="{FF2B5EF4-FFF2-40B4-BE49-F238E27FC236}">
                <a16:creationId xmlns:a16="http://schemas.microsoft.com/office/drawing/2014/main" id="{DCBC7875-FBE6-A544-5D37-38C200091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5049" y="892367"/>
            <a:ext cx="7415226" cy="3172858"/>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b="1" dirty="0">
                <a:effectLst>
                  <a:outerShdw blurRad="38100" dist="38100" dir="2700000" algn="tl">
                    <a:srgbClr val="000000">
                      <a:alpha val="43137"/>
                    </a:srgbClr>
                  </a:outerShdw>
                </a:effectLst>
                <a:latin typeface="Book Antiqua" panose="02040602050305030304" pitchFamily="18" charset="0"/>
              </a:rPr>
              <a:t>AFFLUENCE AND CONSUMER BUYING BEHAVIOUR</a:t>
            </a:r>
            <a:endParaRPr lang="en-AU" b="1" dirty="0">
              <a:effectLst>
                <a:outerShdw blurRad="38100" dist="38100" dir="2700000" algn="tl">
                  <a:srgbClr val="000000">
                    <a:alpha val="43137"/>
                  </a:srgbClr>
                </a:outerShdw>
              </a:effectLst>
              <a:latin typeface="Book Antiqua" panose="02040602050305030304" pitchFamily="18" charset="0"/>
            </a:endParaRPr>
          </a:p>
        </p:txBody>
      </p:sp>
      <p:pic>
        <p:nvPicPr>
          <p:cNvPr id="5" name="Picture 4">
            <a:extLst>
              <a:ext uri="{FF2B5EF4-FFF2-40B4-BE49-F238E27FC236}">
                <a16:creationId xmlns:a16="http://schemas.microsoft.com/office/drawing/2014/main" id="{AE3F76A3-53AD-B7C5-B984-30469BA290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975" y="1277771"/>
            <a:ext cx="6228394" cy="4740641"/>
          </a:xfrm>
          <a:prstGeom prst="rect">
            <a:avLst/>
          </a:prstGeom>
        </p:spPr>
      </p:pic>
      <p:sp>
        <p:nvSpPr>
          <p:cNvPr id="6" name="TextBox 5">
            <a:extLst>
              <a:ext uri="{FF2B5EF4-FFF2-40B4-BE49-F238E27FC236}">
                <a16:creationId xmlns:a16="http://schemas.microsoft.com/office/drawing/2014/main" id="{C35B7087-B6CF-3805-8F11-CF60B4FBDE8A}"/>
              </a:ext>
            </a:extLst>
          </p:cNvPr>
          <p:cNvSpPr txBox="1"/>
          <p:nvPr/>
        </p:nvSpPr>
        <p:spPr>
          <a:xfrm>
            <a:off x="7664068" y="1277772"/>
            <a:ext cx="4527932" cy="5310316"/>
          </a:xfrm>
          <a:prstGeom prst="rect">
            <a:avLst/>
          </a:prstGeom>
          <a:noFill/>
        </p:spPr>
        <p:txBody>
          <a:bodyPr wrap="none" lIns="0" tIns="0" rIns="0" bIns="0" rtlCol="0" anchor="t">
            <a:noAutofit/>
          </a:bodyPr>
          <a:lstStyle/>
          <a:p>
            <a:r>
              <a:rPr lang="en-US" sz="1600" b="1" u="sng"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KEY INSIGHTS</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Mainstream customers generated the largest</a:t>
            </a:r>
          </a:p>
          <a:p>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share of chip sales.</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Premium customers recorded higher average</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spending per transaction.</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Budget customers contributed significantly to</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purchase volume despite lower spending levels.</a:t>
            </a:r>
          </a:p>
          <a:p>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IN" sz="1600" dirty="0">
                <a:effectLst>
                  <a:outerShdw blurRad="38100" dist="38100" dir="2700000" algn="tl">
                    <a:srgbClr val="000000">
                      <a:alpha val="43137"/>
                    </a:srgbClr>
                  </a:outerShdw>
                </a:effectLst>
                <a:latin typeface="Book Antiqua" panose="02040602050305030304" pitchFamily="18" charset="0"/>
              </a:rPr>
              <a:t>Purchasing behaviour differs across affluence </a:t>
            </a:r>
          </a:p>
          <a:p>
            <a:pPr marL="285750" indent="-285750">
              <a:buFont typeface="Arial" panose="020B0604020202020204" pitchFamily="34" charset="0"/>
              <a:buChar char="•"/>
            </a:pPr>
            <a:endParaRPr lang="en-IN" sz="1600" dirty="0">
              <a:effectLst>
                <a:outerShdw blurRad="38100" dist="38100" dir="2700000" algn="tl">
                  <a:srgbClr val="000000">
                    <a:alpha val="43137"/>
                  </a:srgbClr>
                </a:outerShdw>
              </a:effectLst>
              <a:latin typeface="Book Antiqua" panose="02040602050305030304" pitchFamily="18" charset="0"/>
            </a:endParaRPr>
          </a:p>
          <a:p>
            <a:r>
              <a:rPr lang="en-IN" sz="1600" dirty="0">
                <a:effectLst>
                  <a:outerShdw blurRad="38100" dist="38100" dir="2700000" algn="tl">
                    <a:srgbClr val="000000">
                      <a:alpha val="43137"/>
                    </a:srgbClr>
                  </a:outerShdw>
                </a:effectLst>
                <a:latin typeface="Book Antiqua" panose="02040602050305030304" pitchFamily="18" charset="0"/>
              </a:rPr>
              <a:t>segments, indicating opportunities for targeted</a:t>
            </a:r>
          </a:p>
          <a:p>
            <a:endParaRPr lang="en-IN" sz="1600" dirty="0">
              <a:effectLst>
                <a:outerShdw blurRad="38100" dist="38100" dir="2700000" algn="tl">
                  <a:srgbClr val="000000">
                    <a:alpha val="43137"/>
                  </a:srgbClr>
                </a:outerShdw>
              </a:effectLst>
              <a:latin typeface="Book Antiqua" panose="02040602050305030304" pitchFamily="18" charset="0"/>
            </a:endParaRPr>
          </a:p>
          <a:p>
            <a:r>
              <a:rPr lang="en-IN" sz="1600" dirty="0">
                <a:effectLst>
                  <a:outerShdw blurRad="38100" dist="38100" dir="2700000" algn="tl">
                    <a:srgbClr val="000000">
                      <a:alpha val="43137"/>
                    </a:srgbClr>
                  </a:outerShdw>
                </a:effectLst>
                <a:latin typeface="Book Antiqua" panose="02040602050305030304" pitchFamily="18" charset="0"/>
              </a:rPr>
              <a:t>Marketing.</a:t>
            </a:r>
            <a:endParaRPr lang="en-IN"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b="1" dirty="0">
                <a:effectLst>
                  <a:outerShdw blurRad="38100" dist="38100" dir="2700000" algn="tl">
                    <a:srgbClr val="000000">
                      <a:alpha val="43137"/>
                    </a:srgbClr>
                  </a:outerShdw>
                </a:effectLst>
                <a:latin typeface="Book Antiqua" panose="02040602050305030304" pitchFamily="18" charset="0"/>
              </a:rPr>
              <a:t>CUSTOMER PROPORTION BY LIFE STAGE AND AFFLUENCE</a:t>
            </a:r>
            <a:endParaRPr lang="en-AU" b="1" dirty="0">
              <a:effectLst>
                <a:outerShdw blurRad="38100" dist="38100" dir="2700000" algn="tl">
                  <a:srgbClr val="000000">
                    <a:alpha val="43137"/>
                  </a:srgbClr>
                </a:outerShdw>
              </a:effectLst>
              <a:latin typeface="Book Antiqua" panose="02040602050305030304" pitchFamily="18" charset="0"/>
            </a:endParaRPr>
          </a:p>
        </p:txBody>
      </p:sp>
      <p:pic>
        <p:nvPicPr>
          <p:cNvPr id="6" name="Picture 5">
            <a:extLst>
              <a:ext uri="{FF2B5EF4-FFF2-40B4-BE49-F238E27FC236}">
                <a16:creationId xmlns:a16="http://schemas.microsoft.com/office/drawing/2014/main" id="{87A47649-36B5-A98E-4C69-348C8CF551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975" y="1178805"/>
            <a:ext cx="7634690" cy="4806108"/>
          </a:xfrm>
          <a:prstGeom prst="rect">
            <a:avLst/>
          </a:prstGeom>
        </p:spPr>
      </p:pic>
      <p:sp>
        <p:nvSpPr>
          <p:cNvPr id="11" name="TextBox 10">
            <a:extLst>
              <a:ext uri="{FF2B5EF4-FFF2-40B4-BE49-F238E27FC236}">
                <a16:creationId xmlns:a16="http://schemas.microsoft.com/office/drawing/2014/main" id="{F4A60A73-F2AB-6BD9-E3D1-0F68CBCDEA94}"/>
              </a:ext>
            </a:extLst>
          </p:cNvPr>
          <p:cNvSpPr txBox="1"/>
          <p:nvPr/>
        </p:nvSpPr>
        <p:spPr>
          <a:xfrm>
            <a:off x="8967730" y="1178804"/>
            <a:ext cx="3128790" cy="5530467"/>
          </a:xfrm>
          <a:prstGeom prst="rect">
            <a:avLst/>
          </a:prstGeom>
          <a:noFill/>
        </p:spPr>
        <p:txBody>
          <a:bodyPr wrap="none" lIns="0" tIns="0" rIns="0" bIns="0" rtlCol="0" anchor="t">
            <a:noAutofit/>
          </a:bodyPr>
          <a:lstStyle/>
          <a:p>
            <a:pPr algn="l"/>
            <a:r>
              <a:rPr lang="en-IN" sz="1600" b="1" u="sng"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KEY INSIGHTS</a:t>
            </a:r>
          </a:p>
          <a:p>
            <a:pPr algn="l"/>
            <a:endParaRPr lang="en-IN" sz="1200" dirty="0">
              <a:effectLst>
                <a:outerShdw blurRad="38100" dist="38100" dir="2700000" algn="tl">
                  <a:srgbClr val="000000">
                    <a:alpha val="43137"/>
                  </a:srgbClr>
                </a:outerShdw>
              </a:effectLst>
              <a:latin typeface="Roboto Light" panose="02000000000000000000" pitchFamily="2" charset="0"/>
              <a:ea typeface="Roboto Light" panose="02000000000000000000" pitchFamily="2" charset="0"/>
            </a:endParaRPr>
          </a:p>
          <a:p>
            <a:pPr marL="285750" indent="-285750">
              <a:buFont typeface="Arial" panose="020B0604020202020204" pitchFamily="34" charset="0"/>
              <a:buChar char="•"/>
            </a:pPr>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Mainstream customers represent the</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largest proportion across most life</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stages.</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Customer composition varies by life</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stage and affluence segment.</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Premium customers form a smaller </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share but generally spend more per </a:t>
            </a:r>
          </a:p>
          <a:p>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customer.</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Different customer groups may </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require targeted marketing </a:t>
            </a:r>
          </a:p>
          <a:p>
            <a:pPr marL="285750" indent="-285750">
              <a:buFont typeface="Arial" panose="020B0604020202020204" pitchFamily="34" charset="0"/>
              <a:buChar char="•"/>
            </a:pPr>
            <a:endPar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approaches</a:t>
            </a: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a:t>
            </a:r>
            <a:endParaRPr lang="en-IN" sz="16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effectLst>
                  <a:outerShdw blurRad="38100" dist="38100" dir="2700000" algn="tl">
                    <a:srgbClr val="000000">
                      <a:alpha val="43137"/>
                    </a:srgbClr>
                  </a:outerShdw>
                </a:effectLst>
                <a:latin typeface="Book Antiqua" panose="02040602050305030304" pitchFamily="18" charset="0"/>
              </a:rPr>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endParaRPr lang="en-AU" dirty="0"/>
          </a:p>
          <a:p>
            <a:endParaRPr lang="en-AU" b="1" dirty="0">
              <a:effectLst>
                <a:outerShdw blurRad="38100" dist="38100" dir="2700000" algn="tl">
                  <a:srgbClr val="000000">
                    <a:alpha val="43137"/>
                  </a:srgbClr>
                </a:outerShdw>
              </a:effectLst>
            </a:endParaRPr>
          </a:p>
          <a:p>
            <a:r>
              <a:rPr lang="en-AU" b="1" dirty="0">
                <a:effectLst>
                  <a:outerShdw blurRad="38100" dist="38100" dir="2700000" algn="tl">
                    <a:srgbClr val="000000">
                      <a:alpha val="43137"/>
                    </a:srgbClr>
                  </a:outerShdw>
                </a:effectLst>
                <a:latin typeface="Book Antiqua" panose="02040602050305030304" pitchFamily="18" charset="0"/>
              </a:rPr>
              <a:t>STORE TRIAL ANALYSIS</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b="1" dirty="0">
                <a:effectLst>
                  <a:outerShdw blurRad="38100" dist="38100" dir="2700000" algn="tl">
                    <a:srgbClr val="000000">
                      <a:alpha val="43137"/>
                    </a:srgbClr>
                  </a:outerShdw>
                </a:effectLst>
                <a:latin typeface="Book Antiqua" panose="02040602050305030304" pitchFamily="18" charset="0"/>
              </a:rPr>
              <a:t>CONTROL STORE SELECTION METHODOLOGY</a:t>
            </a:r>
          </a:p>
        </p:txBody>
      </p:sp>
      <p:pic>
        <p:nvPicPr>
          <p:cNvPr id="5" name="Picture 4">
            <a:extLst>
              <a:ext uri="{FF2B5EF4-FFF2-40B4-BE49-F238E27FC236}">
                <a16:creationId xmlns:a16="http://schemas.microsoft.com/office/drawing/2014/main" id="{A196D1B3-8E9F-3B87-C2E0-D9A295D17C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9077" y="804231"/>
            <a:ext cx="5210340" cy="4038430"/>
          </a:xfrm>
          <a:prstGeom prst="rect">
            <a:avLst/>
          </a:prstGeom>
        </p:spPr>
      </p:pic>
      <p:sp>
        <p:nvSpPr>
          <p:cNvPr id="6" name="TextBox 5">
            <a:extLst>
              <a:ext uri="{FF2B5EF4-FFF2-40B4-BE49-F238E27FC236}">
                <a16:creationId xmlns:a16="http://schemas.microsoft.com/office/drawing/2014/main" id="{4B2683D0-8CA7-87BF-D792-D170FEA5EE15}"/>
              </a:ext>
            </a:extLst>
          </p:cNvPr>
          <p:cNvSpPr txBox="1"/>
          <p:nvPr/>
        </p:nvSpPr>
        <p:spPr>
          <a:xfrm>
            <a:off x="6526623" y="1602524"/>
            <a:ext cx="5464366" cy="4491767"/>
          </a:xfrm>
          <a:prstGeom prst="rect">
            <a:avLst/>
          </a:prstGeom>
          <a:noFill/>
        </p:spPr>
        <p:txBody>
          <a:bodyPr wrap="none" lIns="0" tIns="0" rIns="0" bIns="0" rtlCol="0" anchor="t">
            <a:noAutofit/>
          </a:bodyPr>
          <a:lstStyle/>
          <a:p>
            <a:r>
              <a:rPr lang="en-US" b="1" u="sng"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KEY INSIGHTS</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Control stores were selected using Pearson correlation </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during the pre-trial period.</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Stores with similar sales patterns and customer </a:t>
            </a:r>
            <a:r>
              <a:rPr lang="en-US" sz="16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behaviour</a:t>
            </a: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were chosen as controls.</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Matching control stores provide a reliable benchmark for </a:t>
            </a:r>
          </a:p>
          <a:p>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evaluating trial performance.</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This approach helps isolate the impact of the trial from </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normal business variation.</a:t>
            </a:r>
            <a:endParaRPr lang="en-IN" sz="16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b="1" dirty="0">
                <a:effectLst>
                  <a:outerShdw blurRad="38100" dist="38100" dir="2700000" algn="tl">
                    <a:srgbClr val="000000">
                      <a:alpha val="43137"/>
                    </a:srgbClr>
                  </a:outerShdw>
                </a:effectLst>
                <a:latin typeface="Book Antiqua" panose="02040602050305030304" pitchFamily="18" charset="0"/>
              </a:rPr>
              <a:t>TRAIL STORE PERFORMANCE ASSESSMENT</a:t>
            </a:r>
          </a:p>
        </p:txBody>
      </p:sp>
      <p:pic>
        <p:nvPicPr>
          <p:cNvPr id="5" name="Picture 4">
            <a:extLst>
              <a:ext uri="{FF2B5EF4-FFF2-40B4-BE49-F238E27FC236}">
                <a16:creationId xmlns:a16="http://schemas.microsoft.com/office/drawing/2014/main" id="{1E40C722-710E-C8FD-25C6-C2013FD444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976" y="1377108"/>
            <a:ext cx="6713136" cy="4643804"/>
          </a:xfrm>
          <a:prstGeom prst="rect">
            <a:avLst/>
          </a:prstGeom>
        </p:spPr>
      </p:pic>
      <p:sp>
        <p:nvSpPr>
          <p:cNvPr id="6" name="TextBox 5">
            <a:extLst>
              <a:ext uri="{FF2B5EF4-FFF2-40B4-BE49-F238E27FC236}">
                <a16:creationId xmlns:a16="http://schemas.microsoft.com/office/drawing/2014/main" id="{0E0F2D53-A953-F4B9-6157-C3479AC1F618}"/>
              </a:ext>
            </a:extLst>
          </p:cNvPr>
          <p:cNvSpPr txBox="1"/>
          <p:nvPr/>
        </p:nvSpPr>
        <p:spPr>
          <a:xfrm>
            <a:off x="8170845" y="1410158"/>
            <a:ext cx="4021155" cy="5365215"/>
          </a:xfrm>
          <a:prstGeom prst="rect">
            <a:avLst/>
          </a:prstGeom>
          <a:noFill/>
        </p:spPr>
        <p:txBody>
          <a:bodyPr wrap="none" lIns="0" tIns="0" rIns="0" bIns="0" rtlCol="0" anchor="t">
            <a:noAutofit/>
          </a:bodyPr>
          <a:lstStyle/>
          <a:p>
            <a:r>
              <a:rPr lang="en-US" b="1" u="sng"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KEY INSIGHTS</a:t>
            </a:r>
          </a:p>
          <a:p>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88 recorded substantially higher </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sales than its control store.</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The sales difference was statistically </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significant.</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The trial appears to have positively </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influenced store performance.</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285750" indent="-285750">
              <a:buFont typeface="Arial" panose="020B0604020202020204" pitchFamily="34" charset="0"/>
              <a:buChar char="•"/>
            </a:pPr>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Store 88 delivered the strongest trial </a:t>
            </a:r>
          </a:p>
          <a:p>
            <a:pPr marL="285750" indent="-285750">
              <a:buFont typeface="Arial" panose="020B0604020202020204" pitchFamily="34" charset="0"/>
              <a:buChar char="•"/>
            </a:pPr>
            <a:endPar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16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outcome among the three stores.</a:t>
            </a:r>
            <a:endParaRPr lang="en-IN" sz="16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3498D6-4DBA-78CA-CB8D-7D6636655B40}"/>
              </a:ext>
            </a:extLst>
          </p:cNvPr>
          <p:cNvSpPr>
            <a:spLocks noGrp="1"/>
          </p:cNvSpPr>
          <p:nvPr>
            <p:ph type="body" sz="quarter" idx="10"/>
          </p:nvPr>
        </p:nvSpPr>
        <p:spPr/>
        <p:txBody>
          <a:bodyPr/>
          <a:lstStyle/>
          <a:p>
            <a:r>
              <a:rPr lang="en-IN" sz="2800" b="1" dirty="0">
                <a:effectLst>
                  <a:outerShdw blurRad="38100" dist="38100" dir="2700000" algn="tl">
                    <a:srgbClr val="000000">
                      <a:alpha val="43137"/>
                    </a:srgbClr>
                  </a:outerShdw>
                </a:effectLst>
                <a:latin typeface="Book Antiqua" panose="02040602050305030304" pitchFamily="18" charset="0"/>
              </a:rPr>
              <a:t>RECOMMENDATIONS</a:t>
            </a:r>
          </a:p>
        </p:txBody>
      </p:sp>
      <p:sp>
        <p:nvSpPr>
          <p:cNvPr id="3" name="TextBox 2">
            <a:extLst>
              <a:ext uri="{FF2B5EF4-FFF2-40B4-BE49-F238E27FC236}">
                <a16:creationId xmlns:a16="http://schemas.microsoft.com/office/drawing/2014/main" id="{6888A598-1768-BDA4-FE43-49D2151B51CB}"/>
              </a:ext>
            </a:extLst>
          </p:cNvPr>
          <p:cNvSpPr txBox="1"/>
          <p:nvPr/>
        </p:nvSpPr>
        <p:spPr>
          <a:xfrm>
            <a:off x="1196974" y="1277771"/>
            <a:ext cx="10479599" cy="4649304"/>
          </a:xfrm>
          <a:prstGeom prst="rect">
            <a:avLst/>
          </a:prstGeom>
          <a:noFill/>
        </p:spPr>
        <p:txBody>
          <a:bodyPr wrap="none" lIns="0" tIns="0" rIns="0" bIns="0" rtlCol="0" anchor="t">
            <a:noAutofit/>
          </a:bodyPr>
          <a:lstStyle/>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Expand successful strategies implemented in Store 88.</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Continue monitoring Store 86 before wider rollout.</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Review the factors contributing to Store 77's lower performance.</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Improve future control-store selection using both correlation and sales </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magnitude measures.</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Continue tracking customer </a:t>
            </a:r>
            <a:r>
              <a:rPr lang="en-US" sz="24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behaviour</a:t>
            </a: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 to support future trial programs.</a:t>
            </a:r>
            <a:endParaRPr lang="en-IN" sz="24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4023652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C18F94-137F-6C87-EF6A-859F6E9AACAF}"/>
              </a:ext>
            </a:extLst>
          </p:cNvPr>
          <p:cNvSpPr>
            <a:spLocks noGrp="1"/>
          </p:cNvSpPr>
          <p:nvPr>
            <p:ph type="body" sz="quarter" idx="10"/>
          </p:nvPr>
        </p:nvSpPr>
        <p:spPr/>
        <p:txBody>
          <a:bodyPr/>
          <a:lstStyle/>
          <a:p>
            <a:r>
              <a:rPr lang="en-IN" sz="2800" b="1" dirty="0">
                <a:effectLst>
                  <a:outerShdw blurRad="38100" dist="38100" dir="2700000" algn="tl">
                    <a:srgbClr val="000000">
                      <a:alpha val="43137"/>
                    </a:srgbClr>
                  </a:outerShdw>
                </a:effectLst>
                <a:latin typeface="Book Antiqua" panose="02040602050305030304" pitchFamily="18" charset="0"/>
              </a:rPr>
              <a:t>CONCLUSION</a:t>
            </a:r>
          </a:p>
        </p:txBody>
      </p:sp>
      <p:sp>
        <p:nvSpPr>
          <p:cNvPr id="3" name="TextBox 2">
            <a:extLst>
              <a:ext uri="{FF2B5EF4-FFF2-40B4-BE49-F238E27FC236}">
                <a16:creationId xmlns:a16="http://schemas.microsoft.com/office/drawing/2014/main" id="{F493CDB9-2E72-40BB-FCC6-35CAA390FAA2}"/>
              </a:ext>
            </a:extLst>
          </p:cNvPr>
          <p:cNvSpPr txBox="1"/>
          <p:nvPr/>
        </p:nvSpPr>
        <p:spPr>
          <a:xfrm>
            <a:off x="1196975" y="1520142"/>
            <a:ext cx="10479600" cy="4748456"/>
          </a:xfrm>
          <a:prstGeom prst="rect">
            <a:avLst/>
          </a:prstGeom>
          <a:noFill/>
        </p:spPr>
        <p:txBody>
          <a:bodyPr wrap="none" lIns="0" tIns="0" rIns="0" bIns="0" rtlCol="0" anchor="t">
            <a:noAutofit/>
          </a:bodyPr>
          <a:lstStyle/>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Customer segmentation identified key revenue-driving customer groups.</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Store trial analysis showed varying levels of success across trial stores.</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Store 88 demonstrated the strongest positive trial outcome.</a:t>
            </a:r>
          </a:p>
          <a:p>
            <a:pPr marL="342900" indent="-342900">
              <a:buFont typeface="Arial" panose="020B0604020202020204" pitchFamily="34" charset="0"/>
              <a:buChar char="•"/>
            </a:pPr>
            <a:endPar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a:p>
            <a:pPr marL="342900" indent="-342900">
              <a:buFont typeface="Arial" panose="020B0604020202020204" pitchFamily="34" charset="0"/>
              <a:buChar char="•"/>
            </a:pPr>
            <a:r>
              <a:rPr lang="en-US" sz="2400" dirty="0">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rPr>
              <a:t>Findings provide valuable insights for future marketing and store strategies.</a:t>
            </a:r>
            <a:endParaRPr lang="en-IN" sz="2400" dirty="0" err="1">
              <a:effectLst>
                <a:outerShdw blurRad="38100" dist="38100" dir="2700000" algn="tl">
                  <a:srgbClr val="000000">
                    <a:alpha val="43137"/>
                  </a:srgbClr>
                </a:outerShdw>
              </a:effectLst>
              <a:latin typeface="Book Antiqua" panose="02040602050305030304" pitchFamily="18" charset="0"/>
              <a:ea typeface="Roboto Light" panose="02000000000000000000" pitchFamily="2" charset="0"/>
            </a:endParaRPr>
          </a:p>
        </p:txBody>
      </p:sp>
    </p:spTree>
    <p:extLst>
      <p:ext uri="{BB962C8B-B14F-4D97-AF65-F5344CB8AC3E}">
        <p14:creationId xmlns:p14="http://schemas.microsoft.com/office/powerpoint/2010/main" val="4054209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284716"/>
      </p:ext>
    </p:extLst>
  </p:cSld>
  <p:clrMapOvr>
    <a:masterClrMapping/>
  </p:clrMapOvr>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6557</TotalTime>
  <Words>442</Words>
  <Application>Microsoft Office PowerPoint</Application>
  <PresentationFormat>Widescreen</PresentationFormat>
  <Paragraphs>134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Roboto Medium</vt:lpstr>
      <vt:lpstr>Calibri</vt:lpstr>
      <vt:lpstr>Book Antiqua</vt:lpstr>
      <vt:lpstr>Roboto Light</vt:lpstr>
      <vt:lpstr>Roboto</vt:lpstr>
      <vt:lpstr>Office Theme</vt:lpstr>
      <vt:lpstr>STORE TRIAL ANALYSIS &amp; CUSTOMER SEGMENTATION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Farhana Nasrin</cp:lastModifiedBy>
  <cp:revision>470</cp:revision>
  <dcterms:created xsi:type="dcterms:W3CDTF">2018-02-07T23:23:24Z</dcterms:created>
  <dcterms:modified xsi:type="dcterms:W3CDTF">2026-06-08T18:29:00Z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